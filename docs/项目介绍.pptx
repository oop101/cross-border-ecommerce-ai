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调优前(权重 0.6/0.4)</c:v>
                </c:pt>
              </c:strCache>
            </c:strRef>
          </c:tx>
          <c:spPr>
            <a:solidFill>
              <a:srgbClr val="9DB8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Recall@3 (%)</c:v>
                  </c:pt>
                  <c:pt idx="1">
                    <c:v>MRR×100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96.2</c:v>
                </c:pt>
                <c:pt idx="1">
                  <c:v>80.8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调优后(权重 0.4/0.6)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Recall@3 (%)</c:v>
                  </c:pt>
                  <c:pt idx="1">
                    <c:v>MRR×100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100</c:v>
                </c:pt>
                <c:pt idx="1">
                  <c:v>98.1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微软雅黑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4748B"/>
              </a:solidFill>
              <a:latin typeface="微软雅黑"/>
              <a:cs typeface="微软雅黑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国际贸易上市公司一站式智能服务平台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11064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76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让外贸企业</a:t>
            </a:r>
            <a:endParaRPr lang="en-US" sz="5400" dirty="0"/>
          </a:p>
          <a:p>
            <a:pPr indent="0" marL="0">
              <a:lnSpc>
                <a:spcPts val="7600"/>
              </a:lnSpc>
              <a:buNone/>
            </a:pPr>
            <a:r>
              <a:rPr lang="en-US" sz="54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单人驾驭多语言交流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4343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8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大模型 + RAG + Agent 打造的智能营销与客服平台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 可插拔架构</a:t>
            </a:r>
            <a:pPr indent="0" marL="0">
              <a:buNone/>
            </a:pPr>
            <a:r>
              <a:rPr lang="en-US" sz="1400" dirty="0">
                <a:solidFill>
                  <a:srgbClr val="3D5A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 ·    </a:t>
            </a:r>
            <a:pPr indent="0" marL="0">
              <a:buNone/>
            </a:pPr>
            <a:r>
              <a:rPr lang="en-US" sz="1400" dirty="0">
                <a:solidFill>
                  <a:srgbClr val="8FA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RAG 混合检索</a:t>
            </a:r>
            <a:pPr indent="0" marL="0">
              <a:buNone/>
            </a:pPr>
            <a:r>
              <a:rPr lang="en-US" sz="1400" dirty="0">
                <a:solidFill>
                  <a:srgbClr val="3D5A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 ·    </a:t>
            </a:r>
            <a:pPr indent="0" marL="0">
              <a:buNone/>
            </a:pPr>
            <a:r>
              <a:rPr lang="en-US" sz="1400" dirty="0">
                <a:solidFill>
                  <a:srgbClr val="8FA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意图路由</a:t>
            </a:r>
            <a:pPr indent="0" marL="0">
              <a:buNone/>
            </a:pPr>
            <a:r>
              <a:rPr lang="en-US" sz="1400" dirty="0">
                <a:solidFill>
                  <a:srgbClr val="3D5A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 ·    </a:t>
            </a:r>
            <a:pPr indent="0" marL="0">
              <a:buNone/>
            </a:pPr>
            <a:r>
              <a:rPr lang="en-US" sz="1400" dirty="0">
                <a:solidFill>
                  <a:srgbClr val="8FA8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SSE 流式输出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WHY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外贸行业的四个老大难,平台逐一化解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54480" y="169164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多语种市场都要配业务员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2093976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文案 + 翻译 + 客服三位一体,一人运营多语种市场,人力成本与业务增长解耦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554480" y="2734056"/>
            <a:ext cx="9966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898648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554480" y="289864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客服无法 7×24 覆盖时区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3300984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RAG 智能客服全天候即时应答;高风险问题(投诉/退款/法律)自动转人工兜底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554480" y="3941064"/>
            <a:ext cx="9966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105656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554480" y="410565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知识散落在个人经验里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50799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产品、政策、话术统一沉淀进知识库,每个回答附带来源引用,人员流动不再带走知识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554480" y="5148072"/>
            <a:ext cx="9966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5312664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554480" y="531266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外贸术语译法不一致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57150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持久化术语库注入提示词强约束译法,翻译记忆保证同一句话全球一个说法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WHAT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六大功能模块,全部真实可用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83664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5477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836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智能客服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25880" y="221284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RAG 知识库问答,意图识别,高风险转人工,SSE 流式打字机输出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883664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3D6FA8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18836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99516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智能文案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995160" y="221284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标题 / 详情 / 广告语 / SEO 关键词,模板卡片一键生成,多段并发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364992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5477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649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33101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翻译引擎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25880" y="3694176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30+ 语种实时翻译,持久化术语库,两级翻译记忆跨重启命中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3364992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3D6FA8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33649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995160" y="33101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知识库管理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995160" y="3694176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PDF / Word / MD / CSV 解析,清洗脱敏,语义分块,精确增删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5477E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846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25880" y="47914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数据洞察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325880" y="517550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会话量 / 满意度 / 意图分布 / Token 成本看板,真实用量统计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17920" y="484632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3D6FA8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4846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95160" y="47914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管理后台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995160" y="517550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JWT 鉴权,多角色权限,注册防提权,审计日志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四层架构,双链路贯通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577840" cy="914400"/>
          </a:xfrm>
          <a:prstGeom prst="roundRect">
            <a:avLst>
              <a:gd name="adj" fmla="val 7000"/>
            </a:avLst>
          </a:prstGeom>
          <a:solidFill>
            <a:srgbClr val="15477E"/>
          </a:solidFill>
          <a:ln/>
          <a:effectLst>
            <a:outerShdw sx="100000" sy="100000" kx="0" ky="0" algn="bl" rotWithShape="0" blurRad="88900" dist="25400" dir="5400000">
              <a:srgbClr val="0B1F3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938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用户交互层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7685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7F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Vue 3 · 六大页面 · 快捷指令 · 登录鉴权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916936"/>
            <a:ext cx="5577840" cy="914400"/>
          </a:xfrm>
          <a:prstGeom prst="roundRect">
            <a:avLst>
              <a:gd name="adj" fmla="val 7000"/>
            </a:avLst>
          </a:prstGeom>
          <a:solidFill>
            <a:srgbClr val="22598F"/>
          </a:solidFill>
          <a:ln/>
          <a:effectLst>
            <a:outerShdw sx="100000" sy="100000" kx="0" ky="0" algn="bl" rotWithShape="0" blurRad="88900" dist="25400" dir="5400000">
              <a:srgbClr val="0B1F3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06324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服务编排层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4107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7F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意图路由 · 上下文管理 · 转人工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050792"/>
            <a:ext cx="5577840" cy="914400"/>
          </a:xfrm>
          <a:prstGeom prst="roundRect">
            <a:avLst>
              <a:gd name="adj" fmla="val 7000"/>
            </a:avLst>
          </a:prstGeom>
          <a:solidFill>
            <a:srgbClr val="3D6FA8"/>
          </a:solidFill>
          <a:ln/>
          <a:effectLst>
            <a:outerShdw sx="100000" sy="100000" kx="0" ky="0" algn="bl" rotWithShape="0" blurRad="88900" dist="25400" dir="5400000">
              <a:srgbClr val="0B1F3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419709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RAG 检索层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5445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7F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向量+BM25 混合检索 · RRF 融合 · 重排序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5184648"/>
            <a:ext cx="5577840" cy="914400"/>
          </a:xfrm>
          <a:prstGeom prst="roundRect">
            <a:avLst>
              <a:gd name="adj" fmla="val 7000"/>
            </a:avLst>
          </a:prstGeom>
          <a:solidFill>
            <a:srgbClr val="6C93BE"/>
          </a:solidFill>
          <a:ln/>
          <a:effectLst>
            <a:outerShdw sx="100000" sy="100000" kx="0" ky="0" algn="bl" rotWithShape="0" blurRad="88900" dist="25400" dir="5400000">
              <a:srgbClr val="0B1F3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533095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数据与模型层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56784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7F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向量库 · SQLite · DeepSeek · 术语库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7512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RAG 问答链路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675120" y="2240280"/>
            <a:ext cx="4206240" cy="512064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224028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用户提问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058400" y="2240280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547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732520" y="2752344"/>
            <a:ext cx="0" cy="210312"/>
          </a:xfrm>
          <a:prstGeom prst="line">
            <a:avLst/>
          </a:prstGeom>
          <a:noFill/>
          <a:ln w="20320">
            <a:solidFill>
              <a:srgbClr val="B9C9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0" y="2962656"/>
            <a:ext cx="4206240" cy="512064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296265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意图识别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058400" y="2962656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547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732520" y="3474720"/>
            <a:ext cx="0" cy="210312"/>
          </a:xfrm>
          <a:prstGeom prst="line">
            <a:avLst/>
          </a:prstGeom>
          <a:noFill/>
          <a:ln w="20320">
            <a:solidFill>
              <a:srgbClr val="B9C9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0" y="3685032"/>
            <a:ext cx="4206240" cy="512064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/>
        </p:spPr>
      </p:sp>
      <p:sp>
        <p:nvSpPr>
          <p:cNvPr id="26" name="Text 24"/>
          <p:cNvSpPr/>
          <p:nvPr/>
        </p:nvSpPr>
        <p:spPr>
          <a:xfrm>
            <a:off x="6903720" y="368503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混合检索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0058400" y="3685032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547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732520" y="4197096"/>
            <a:ext cx="0" cy="210312"/>
          </a:xfrm>
          <a:prstGeom prst="line">
            <a:avLst/>
          </a:prstGeom>
          <a:noFill/>
          <a:ln w="20320">
            <a:solidFill>
              <a:srgbClr val="B9C9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75120" y="4407408"/>
            <a:ext cx="4206240" cy="512064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/>
        </p:spPr>
      </p:sp>
      <p:sp>
        <p:nvSpPr>
          <p:cNvPr id="30" name="Text 28"/>
          <p:cNvSpPr/>
          <p:nvPr/>
        </p:nvSpPr>
        <p:spPr>
          <a:xfrm>
            <a:off x="6903720" y="440740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融合重排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0058400" y="4407408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547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732520" y="4919472"/>
            <a:ext cx="0" cy="210312"/>
          </a:xfrm>
          <a:prstGeom prst="line">
            <a:avLst/>
          </a:prstGeom>
          <a:noFill/>
          <a:ln w="20320">
            <a:solidFill>
              <a:srgbClr val="B9C9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75120" y="5129784"/>
            <a:ext cx="4206240" cy="512064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/>
        </p:spPr>
      </p:sp>
      <p:sp>
        <p:nvSpPr>
          <p:cNvPr id="34" name="Text 32"/>
          <p:cNvSpPr/>
          <p:nvPr/>
        </p:nvSpPr>
        <p:spPr>
          <a:xfrm>
            <a:off x="6903720" y="5129784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 生成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0058400" y="5129784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547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732520" y="5641848"/>
            <a:ext cx="0" cy="210312"/>
          </a:xfrm>
          <a:prstGeom prst="line">
            <a:avLst/>
          </a:prstGeom>
          <a:noFill/>
          <a:ln w="20320">
            <a:solidFill>
              <a:srgbClr val="B9C9D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75120" y="5852160"/>
            <a:ext cx="4206240" cy="512064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38" name="Text 36"/>
          <p:cNvSpPr/>
          <p:nvPr/>
        </p:nvSpPr>
        <p:spPr>
          <a:xfrm>
            <a:off x="6903720" y="585216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溯源流式返回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0058400" y="5852160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CORE TECH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混合检索:两条腿走路的召回策略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单一检索方式必有盲区:向量检索懂语义却容易漏掉「L/C」这类精确术语,BM25 恰好相反。外贸场景术语密集,平台采用双路召回互补。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7706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47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49808" y="321868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向量召回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356616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语义相似,补足同义表达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35808" y="30632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410712" y="260604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27706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47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11880" y="321868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BM25 召回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1880" y="356616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关键词精确匹配术语型号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97880" y="30632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272784" y="260604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/>
        </p:spPr>
      </p:sp>
      <p:sp>
        <p:nvSpPr>
          <p:cNvPr id="16" name="Text 14"/>
          <p:cNvSpPr/>
          <p:nvPr/>
        </p:nvSpPr>
        <p:spPr>
          <a:xfrm>
            <a:off x="6473952" y="27706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47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73952" y="321868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RRF 融合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73952" y="356616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按排名融合,规避量纲差异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759952" y="30632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134856" y="260604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/>
        </p:spPr>
      </p:sp>
      <p:sp>
        <p:nvSpPr>
          <p:cNvPr id="21" name="Text 19"/>
          <p:cNvSpPr/>
          <p:nvPr/>
        </p:nvSpPr>
        <p:spPr>
          <a:xfrm>
            <a:off x="9336024" y="27706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47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336024" y="321868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重排序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336024" y="356616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启发式打分,可插拔升级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4348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答案可溯源:</a:t>
            </a:r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每个回答附带来源文件、相关度与片段引用;知识库没有的内容,提示词约束模型如实说明并建议转人工,而非编造。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48640" y="5303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检索性能缓存:</a:t>
            </a:r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BM25 索引按语料指纹缓存、向量矩阵惰性重建,文档增删自动失效,检索耗时压至毫秒级。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· EVIDENCE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评测驱动:用数据调出最优检索权重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100%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Recall@3 检索召回率(52 条评测集)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47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MRR 0.981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平均倒数排名,答案位置更靠前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34340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自建外贸场景评测集,先用它暴露问题: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扩充到 52 条后 2 例未命中;实验发现 Mock Embedding 下向量路是噪声源,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将权重 0.6/0.4 调至 0.4/0.6,召回率 96.2% 升至 100%。</a:t>
            </a:r>
            <a:endParaRPr lang="en-US" sz="13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212080" y="1783080"/>
          <a:ext cx="6400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数据来源: backend/scripts/eval_rag.py 实测(当前为 Mock Embedding,接入真实向量模型后需重调)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·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工程底座:可插拔、高并发、多租户、够安全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47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可插拔架构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216712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 / Embedding / 向量库 / Agent 全接口隔离,无 Key 自动降级 Mock;兼容 DeepSeek、通义千问、OpenAI 等所有兼容厂商,改配置即切换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770632"/>
            <a:ext cx="51206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91693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47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性能组合拳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300984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文案 4 段 asyncio 并发(延迟从累加降为最慢一段)、SSE 流式首字秒出、翻译记忆两级缓存、检索索引缓存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904488"/>
            <a:ext cx="51206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05079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47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多租户隔离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8640" y="44348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知识库、会话、看板全链路按租户过滤,检索层阻断跨租户知识泄漏,配套隔离测试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5038344"/>
            <a:ext cx="51206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1846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47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安全体系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48640" y="5568696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PBKDF2+HS256 JWT 零依赖实现;修复注册自助提权漏洞;CORS 白名单自适应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1783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 Key,随手换模型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09360" y="2286000"/>
            <a:ext cx="5303520" cy="603504"/>
          </a:xfrm>
          <a:prstGeom prst="roundRect">
            <a:avLst>
              <a:gd name="adj" fmla="val 10606"/>
            </a:avLst>
          </a:prstGeom>
          <a:solidFill>
            <a:srgbClr val="0B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2286000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.env 配置:BASE_URL + API_KEY + MODEL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961120" y="2889504"/>
            <a:ext cx="0" cy="274320"/>
          </a:xfrm>
          <a:prstGeom prst="line">
            <a:avLst/>
          </a:prstGeom>
          <a:noFill/>
          <a:ln w="20320">
            <a:solidFill>
              <a:srgbClr val="B9C9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3163824"/>
            <a:ext cx="5303520" cy="603504"/>
          </a:xfrm>
          <a:prstGeom prst="roundRect">
            <a:avLst>
              <a:gd name="adj" fmla="val 10606"/>
            </a:avLst>
          </a:prstGeom>
          <a:solidFill>
            <a:srgbClr val="15477E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3163824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openai_compatible 统一协议实现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309360" y="3950208"/>
            <a:ext cx="2578608" cy="566928"/>
          </a:xfrm>
          <a:prstGeom prst="roundRect">
            <a:avLst>
              <a:gd name="adj" fmla="val 11290"/>
            </a:avLst>
          </a:prstGeom>
          <a:solidFill>
            <a:srgbClr val="EAF1F8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3950208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DeepSeek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034272" y="3950208"/>
            <a:ext cx="2578608" cy="566928"/>
          </a:xfrm>
          <a:prstGeom prst="roundRect">
            <a:avLst>
              <a:gd name="adj" fmla="val 11290"/>
            </a:avLst>
          </a:prstGeom>
          <a:solidFill>
            <a:srgbClr val="EAF1F8"/>
          </a:solidFill>
          <a:ln/>
        </p:spPr>
      </p:sp>
      <p:sp>
        <p:nvSpPr>
          <p:cNvPr id="24" name="Text 22"/>
          <p:cNvSpPr/>
          <p:nvPr/>
        </p:nvSpPr>
        <p:spPr>
          <a:xfrm>
            <a:off x="9034272" y="3950208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通义千问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09360" y="4700016"/>
            <a:ext cx="2578608" cy="566928"/>
          </a:xfrm>
          <a:prstGeom prst="roundRect">
            <a:avLst>
              <a:gd name="adj" fmla="val 11290"/>
            </a:avLst>
          </a:prstGeom>
          <a:solidFill>
            <a:srgbClr val="EAF1F8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4700016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OpenAI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034272" y="4700016"/>
            <a:ext cx="2578608" cy="566928"/>
          </a:xfrm>
          <a:prstGeom prst="roundRect">
            <a:avLst>
              <a:gd name="adj" fmla="val 11290"/>
            </a:avLst>
          </a:prstGeom>
          <a:solidFill>
            <a:srgbClr val="EAF1F8"/>
          </a:solidFill>
          <a:ln/>
        </p:spPr>
      </p:sp>
      <p:sp>
        <p:nvSpPr>
          <p:cNvPr id="28" name="Text 26"/>
          <p:cNvSpPr/>
          <p:nvPr/>
        </p:nvSpPr>
        <p:spPr>
          <a:xfrm>
            <a:off x="9034272" y="4700016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Moonshot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09360" y="5449824"/>
            <a:ext cx="2578608" cy="566928"/>
          </a:xfrm>
          <a:prstGeom prst="roundRect">
            <a:avLst>
              <a:gd name="adj" fmla="val 11290"/>
            </a:avLst>
          </a:prstGeom>
          <a:solidFill>
            <a:srgbClr val="EAF1F8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5449824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SiliconFlow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034272" y="5449824"/>
            <a:ext cx="2578608" cy="566928"/>
          </a:xfrm>
          <a:prstGeom prst="roundRect">
            <a:avLst>
              <a:gd name="adj" fmla="val 11290"/>
            </a:avLst>
          </a:prstGeom>
          <a:solidFill>
            <a:srgbClr val="EAF1F8"/>
          </a:solidFill>
          <a:ln/>
        </p:spPr>
      </p:sp>
      <p:sp>
        <p:nvSpPr>
          <p:cNvPr id="32" name="Text 30"/>
          <p:cNvSpPr/>
          <p:nvPr/>
        </p:nvSpPr>
        <p:spPr>
          <a:xfrm>
            <a:off x="9034272" y="5449824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Mock 降级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 · QUALITY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每一轮优化,都有测试和评测兜底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548640" y="3520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D8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项自动化测试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91363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E97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单元 12 + 冒烟 8 + 租户隔离 3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410712" y="237744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3410712" y="3520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D8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轮迭代优化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10712" y="391363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E97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 → 性能 → 体验 → 数据 → 前端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72784" y="237744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52</a:t>
            </a:r>
            <a:endParaRPr lang="en-US" sz="6200" dirty="0"/>
          </a:p>
        </p:txBody>
      </p:sp>
      <p:sp>
        <p:nvSpPr>
          <p:cNvPr id="11" name="Text 9"/>
          <p:cNvSpPr/>
          <p:nvPr/>
        </p:nvSpPr>
        <p:spPr>
          <a:xfrm>
            <a:off x="6272784" y="3520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D8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条评测用例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72784" y="391363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E97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覆盖同义改写与英文关键词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34856" y="237744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100%</a:t>
            </a:r>
            <a:endParaRPr lang="en-US" sz="6200" dirty="0"/>
          </a:p>
        </p:txBody>
      </p:sp>
      <p:sp>
        <p:nvSpPr>
          <p:cNvPr id="14" name="Text 12"/>
          <p:cNvSpPr/>
          <p:nvPr/>
        </p:nvSpPr>
        <p:spPr>
          <a:xfrm>
            <a:off x="9134856" y="3520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D8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检索召回率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34856" y="391363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E97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Recall@3,52 条用例全命中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8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全流程浏览器实测:流式问答、一键文案、翻译记忆跨重启命中,均真实跑通,非纸上谈兵。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 ·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演进路线:从演示到私有化生产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984248"/>
            <a:ext cx="3246120" cy="0"/>
          </a:xfrm>
          <a:prstGeom prst="line">
            <a:avLst/>
          </a:prstGeom>
          <a:noFill/>
          <a:ln w="25400">
            <a:solidFill>
              <a:srgbClr val="C9D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31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L1 · 近期(1-2 周)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 Embedding 接入与权重重调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bge-reranker 重排序模型实测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Token 成本看板租户化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70832" y="1828800"/>
            <a:ext cx="310896" cy="310896"/>
          </a:xfrm>
          <a:prstGeom prst="ellipse">
            <a:avLst/>
          </a:prstGeom>
          <a:solidFill>
            <a:srgbClr val="15477E"/>
          </a:solidFill>
          <a:ln/>
        </p:spPr>
      </p:sp>
      <p:sp>
        <p:nvSpPr>
          <p:cNvPr id="9" name="Shape 7"/>
          <p:cNvSpPr/>
          <p:nvPr/>
        </p:nvSpPr>
        <p:spPr>
          <a:xfrm>
            <a:off x="4828032" y="1984248"/>
            <a:ext cx="3246120" cy="0"/>
          </a:xfrm>
          <a:prstGeom prst="line">
            <a:avLst/>
          </a:prstGeom>
          <a:noFill/>
          <a:ln w="25400">
            <a:solidFill>
              <a:srgbClr val="C9D5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70832" y="2331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L2 · 中期(1-2 月)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370832" y="283464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Redis 缓存 + 限流与 Token 配额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LangGraph 多 Agent 图编排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Prometheus 监控告警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93024" y="1828800"/>
            <a:ext cx="310896" cy="310896"/>
          </a:xfrm>
          <a:prstGeom prst="ellipse">
            <a:avLst/>
          </a:prstGeom>
          <a:solidFill>
            <a:srgbClr val="15477E"/>
          </a:solidFill>
          <a:ln/>
        </p:spPr>
      </p:sp>
      <p:sp>
        <p:nvSpPr>
          <p:cNvPr id="13" name="Text 11"/>
          <p:cNvSpPr/>
          <p:nvPr/>
        </p:nvSpPr>
        <p:spPr>
          <a:xfrm>
            <a:off x="8193024" y="2331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L3 · 长期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193024" y="283464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微信 / WhatsApp 渠道接入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MCP 工具化 · 多模态商品理解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向量库 Milvus 生产化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9834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1F8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98348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架构无需推翻:</a:t>
            </a:r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四层分层 + 可插拔设计,数据库切 PostgreSQL、向量库切 Chroma/Milvus 均为配置级切换,为规模增长预留了完整通道。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488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 AI 重构外贸的</a:t>
            </a:r>
            <a:pPr indent="0" marL="0">
              <a:buNone/>
            </a:pPr>
            <a:r>
              <a:rPr lang="en-US" sz="4600" b="1" dirty="0">
                <a:solidFill>
                  <a:srgbClr val="E8A3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营销 · 翻译 · 客服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548640" y="34290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8E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知识资产平台化    ·    响应 7×24    ·    一人服务全球市场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97B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FastAPI · Vue 3 · DeepSeek · RAG 混合检索 · Agent 编排 · Docker 私有化部署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国际贸易一站式智能服务平台 · 项目介绍</dc:title>
  <dc:subject>PptxGenJS Presentation</dc:subject>
  <dc:creator>国际贸易智能服务平台</dc:creator>
  <cp:lastModifiedBy>国际贸易智能服务平台</cp:lastModifiedBy>
  <cp:revision>1</cp:revision>
  <dcterms:created xsi:type="dcterms:W3CDTF">2026-08-30T03:57:09Z</dcterms:created>
  <dcterms:modified xsi:type="dcterms:W3CDTF">2026-08-30T03:57:09Z</dcterms:modified>
</cp:coreProperties>
</file>